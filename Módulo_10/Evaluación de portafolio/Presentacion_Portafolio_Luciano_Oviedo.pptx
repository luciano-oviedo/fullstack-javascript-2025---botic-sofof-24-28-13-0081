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 Type="http://schemas.openxmlformats.org/officeDocument/2006/relationships/printerSettings" Target="printerSettings/printerSettings1.bin"/><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 Type="http://schemas.openxmlformats.org/officeDocument/2006/relationships/presProps" Target="presProps.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 Type="http://schemas.openxmlformats.org/officeDocument/2006/relationships/viewProps" Target="viewProps.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 Type="http://schemas.openxmlformats.org/officeDocument/2006/relationships/theme" Target="theme/theme1.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Diagnóstico personal</a:t>
            </a:r>
          </a:p>
        </p:txBody>
      </p:sp>
      <p:sp>
        <p:nvSpPr>
          <p:cNvPr id="3" name="Content Placeholder 2"/>
          <p:cNvSpPr>
            <a:spLocks noGrp="1"/>
          </p:cNvSpPr>
          <p:nvPr>
            <p:ph idx="1"/>
          </p:nvPr>
        </p:nvSpPr>
        <p:spPr/>
        <p:txBody>
          <a:bodyPr/>
          <a:lstStyle/>
          <a:p/>
          <a:p>
            <a:pPr>
              <a:defRPr sz="1200"/>
            </a:pPr>
            <a:r>
              <a:t>La empleabilidad en el sector TI es la capacidad personal de demostrar valor profesional para ser empleados profesionalmente. Esta depende de nuestras habilidades técnicas, nuestras habilidades blandas y, sobre todo, de nuestra preparación previa, en base a una estrategia sólida de búsqueda laboral.</a:t>
            </a:r>
          </a:p>
          <a:p>
            <a:pPr>
              <a:defRPr sz="1200"/>
            </a:pPr>
          </a:p>
          <a:p>
            <a:pPr>
              <a:defRPr sz="1200"/>
            </a:pPr>
            <a:r>
              <a: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1 - 1</a:t>
            </a:r>
          </a:p>
        </p:txBody>
      </p:sp>
      <p:sp>
        <p:nvSpPr>
          <p:cNvPr id="3" name="Content Placeholder 2"/>
          <p:cNvSpPr>
            <a:spLocks noGrp="1"/>
          </p:cNvSpPr>
          <p:nvPr>
            <p:ph idx="1"/>
          </p:nvPr>
        </p:nvSpPr>
        <p:spPr/>
        <p:txBody>
          <a:bodyPr/>
          <a:lstStyle/>
          <a:p/>
          <a:p>
            <a:pPr>
              <a:defRPr sz="1200"/>
            </a:pPr>
            <a:r>
              <a:t>Diagnóstico personal de empleabilidad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1 - 2</a:t>
            </a:r>
          </a:p>
        </p:txBody>
      </p:sp>
      <p:sp>
        <p:nvSpPr>
          <p:cNvPr id="3" name="Content Placeholder 2"/>
          <p:cNvSpPr>
            <a:spLocks noGrp="1"/>
          </p:cNvSpPr>
          <p:nvPr>
            <p:ph idx="1"/>
          </p:nvPr>
        </p:nvSpPr>
        <p:spPr/>
        <p:txBody>
          <a:bodyPr/>
          <a:lstStyle/>
          <a:p/>
          <a:p>
            <a:pPr>
              <a:defRPr sz="1200"/>
            </a:pPr>
            <a:r>
              <a:t>¿Qué entiende por empleabilidad en el sector TI?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1 - 3</a:t>
            </a:r>
          </a:p>
        </p:txBody>
      </p:sp>
      <p:sp>
        <p:nvSpPr>
          <p:cNvPr id="3" name="Content Placeholder 2"/>
          <p:cNvSpPr>
            <a:spLocks noGrp="1"/>
          </p:cNvSpPr>
          <p:nvPr>
            <p:ph idx="1"/>
          </p:nvPr>
        </p:nvSpPr>
        <p:spPr/>
        <p:txBody>
          <a:bodyPr/>
          <a:lstStyle/>
          <a:p/>
          <a:p>
            <a:pPr>
              <a:defRPr sz="1200"/>
            </a:pPr>
            <a:r>
              <a:t>La empleabilidad en el sector TI es la capacidad personal de demostrar valor profesional para ser empleados profesionalmente. Esta depende de nuestras habilidades técnicas, nuestras habilidades blandas y, sobre todo, de nuestra preparación previa, en base a una estrategia sólida de búsqueda laboral.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1 - 4</a:t>
            </a:r>
          </a:p>
        </p:txBody>
      </p:sp>
      <p:sp>
        <p:nvSpPr>
          <p:cNvPr id="3" name="Content Placeholder 2"/>
          <p:cNvSpPr>
            <a:spLocks noGrp="1"/>
          </p:cNvSpPr>
          <p:nvPr>
            <p:ph idx="1"/>
          </p:nvPr>
        </p:nvSpPr>
        <p:spPr/>
        <p:txBody>
          <a:bodyPr/>
          <a:lstStyle/>
          <a:p/>
          <a:p>
            <a:pPr>
              <a:defRPr sz="1200"/>
            </a:pPr>
            <a:r>
              <a:t>¿Cuáles son las habilidades técnicas y blandas más valoradas hoy?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1 - 5</a:t>
            </a:r>
          </a:p>
        </p:txBody>
      </p:sp>
      <p:sp>
        <p:nvSpPr>
          <p:cNvPr id="3" name="Content Placeholder 2"/>
          <p:cNvSpPr>
            <a:spLocks noGrp="1"/>
          </p:cNvSpPr>
          <p:nvPr>
            <p:ph idx="1"/>
          </p:nvPr>
        </p:nvSpPr>
        <p:spPr/>
        <p:txBody>
          <a:bodyPr/>
          <a:lstStyle/>
          <a:p/>
          <a:p>
            <a:pPr>
              <a:defRPr sz="1200"/>
            </a:pPr>
            <a:r>
              <a:t>Para el desarrollo web, que es el nicho al que estoy apuntando. Habilidades técnicas: fundamentos con html-css-js; frameworks como React, Angular, Vue.js o Next.js; conocimiento de arquitectura REST, manejo de bases de datos relacionales y Cloud Computing.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1 - 6</a:t>
            </a:r>
          </a:p>
        </p:txBody>
      </p:sp>
      <p:sp>
        <p:nvSpPr>
          <p:cNvPr id="3" name="Content Placeholder 2"/>
          <p:cNvSpPr>
            <a:spLocks noGrp="1"/>
          </p:cNvSpPr>
          <p:nvPr>
            <p:ph idx="1"/>
          </p:nvPr>
        </p:nvSpPr>
        <p:spPr/>
        <p:txBody>
          <a:bodyPr/>
          <a:lstStyle/>
          <a:p/>
          <a:p>
            <a:pPr>
              <a:defRPr sz="1200"/>
            </a:pPr>
            <a:r>
              <a:t>Habilidades blandas: aprendizaje continuo, inteligencia emocional y autogestión, resiliencia y adaptabilidad, pensamiento crítico y resolución de problemas, comunicación efectiva y trabajo en equipo.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1 - 7</a:t>
            </a:r>
          </a:p>
        </p:txBody>
      </p:sp>
      <p:sp>
        <p:nvSpPr>
          <p:cNvPr id="3" name="Content Placeholder 2"/>
          <p:cNvSpPr>
            <a:spLocks noGrp="1"/>
          </p:cNvSpPr>
          <p:nvPr>
            <p:ph idx="1"/>
          </p:nvPr>
        </p:nvSpPr>
        <p:spPr/>
        <p:txBody>
          <a:bodyPr/>
          <a:lstStyle/>
          <a:p/>
          <a:p>
            <a:pPr>
              <a:defRPr sz="1200"/>
            </a:pPr>
            <a:r>
              <a:t>¿Cómo evalúa su nivel actual de preparación profesional?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1 - 8</a:t>
            </a:r>
          </a:p>
        </p:txBody>
      </p:sp>
      <p:sp>
        <p:nvSpPr>
          <p:cNvPr id="3" name="Content Placeholder 2"/>
          <p:cNvSpPr>
            <a:spLocks noGrp="1"/>
          </p:cNvSpPr>
          <p:nvPr>
            <p:ph idx="1"/>
          </p:nvPr>
        </p:nvSpPr>
        <p:spPr/>
        <p:txBody>
          <a:bodyPr/>
          <a:lstStyle/>
          <a:p/>
          <a:p>
            <a:pPr>
              <a:defRPr sz="1200"/>
            </a:pPr>
            <a:r>
              <a:t>Me considero bien preparado para un rol profesional de entrada como desarrollador full stack, enfocado en JavaScript. Tengo un perfil laboral coherente con este rol entre mi CV, LinkedIn y portafolio; tengo los fundamentos técnicos cubiertos con lo aprendido durante el bootcamp; buenas habilidades interpersonales, debido a mi experiencia previa en hotelería y turismo y un buen manejo de las emociones para afrontar el proceso de búsqueda profesional.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1 - 9</a:t>
            </a:r>
          </a:p>
        </p:txBody>
      </p:sp>
      <p:sp>
        <p:nvSpPr>
          <p:cNvPr id="3" name="Content Placeholder 2"/>
          <p:cNvSpPr>
            <a:spLocks noGrp="1"/>
          </p:cNvSpPr>
          <p:nvPr>
            <p:ph idx="1"/>
          </p:nvPr>
        </p:nvSpPr>
        <p:spPr/>
        <p:txBody>
          <a:bodyPr/>
          <a:lstStyle/>
          <a:p/>
          <a:p>
            <a:pPr>
              <a:defRPr sz="1200"/>
            </a:pPr>
            <a:r>
              <a:t>¿Qué estrategias ha utilizado (o podría usar) para aumentar sus oportunidades laborales?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1 - 10</a:t>
            </a:r>
          </a:p>
        </p:txBody>
      </p:sp>
      <p:sp>
        <p:nvSpPr>
          <p:cNvPr id="3" name="Content Placeholder 2"/>
          <p:cNvSpPr>
            <a:spLocks noGrp="1"/>
          </p:cNvSpPr>
          <p:nvPr>
            <p:ph idx="1"/>
          </p:nvPr>
        </p:nvSpPr>
        <p:spPr/>
        <p:txBody>
          <a:bodyPr/>
          <a:lstStyle/>
          <a:p/>
          <a:p>
            <a:pPr>
              <a:defRPr sz="1200"/>
            </a:pPr>
            <a:r>
              <a:t>Optar por la calidad antes que la cantidad, postulando a las ofertas laborales que mejor se adaptan a mi perfil laboral. Adaptar mi perfil laboral para que destaque las habilidades técnicas y blandas que busca la oferta laboral y que poseo. Practicar y pedir retroalimentación a la IA para armar mi pitch profesional e historias personales.</a:t>
            </a:r>
          </a:p>
          <a:p>
            <a:pPr>
              <a:defRPr sz="1200"/>
            </a:p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a:t>
            </a:r>
          </a:p>
        </p:txBody>
      </p:sp>
      <p:sp>
        <p:nvSpPr>
          <p:cNvPr id="3" name="Content Placeholder 2"/>
          <p:cNvSpPr>
            <a:spLocks noGrp="1"/>
          </p:cNvSpPr>
          <p:nvPr>
            <p:ph idx="1"/>
          </p:nvPr>
        </p:nvSpPr>
        <p:spPr/>
        <p:txBody>
          <a:bodyPr/>
          <a:lstStyle/>
          <a:p/>
          <a:p>
            <a:pPr>
              <a:defRPr sz="1200"/>
            </a:pPr>
            <a:r>
              <a:t>Informe de roles y oportunidades profesionales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2 - 2</a:t>
            </a:r>
          </a:p>
        </p:txBody>
      </p:sp>
      <p:sp>
        <p:nvSpPr>
          <p:cNvPr id="3" name="Content Placeholder 2"/>
          <p:cNvSpPr>
            <a:spLocks noGrp="1"/>
          </p:cNvSpPr>
          <p:nvPr>
            <p:ph idx="1"/>
          </p:nvPr>
        </p:nvSpPr>
        <p:spPr/>
        <p:txBody>
          <a:bodyPr/>
          <a:lstStyle/>
          <a:p/>
          <a:p>
            <a:pPr>
              <a:defRPr sz="1200"/>
            </a:pPr>
            <a:r>
              <a:t>Desarrollador back-end javascript junior: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2 - 3</a:t>
            </a:r>
          </a:p>
        </p:txBody>
      </p:sp>
      <p:sp>
        <p:nvSpPr>
          <p:cNvPr id="3" name="Content Placeholder 2"/>
          <p:cNvSpPr>
            <a:spLocks noGrp="1"/>
          </p:cNvSpPr>
          <p:nvPr>
            <p:ph idx="1"/>
          </p:nvPr>
        </p:nvSpPr>
        <p:spPr/>
        <p:txBody>
          <a:bodyPr/>
          <a:lstStyle/>
          <a:p/>
          <a:p>
            <a:pPr>
              <a:defRPr sz="1200"/>
            </a:pPr>
            <a:r>
              <a:t>Descripción del rol y responsabilidades.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2 - 4</a:t>
            </a:r>
          </a:p>
        </p:txBody>
      </p:sp>
      <p:sp>
        <p:nvSpPr>
          <p:cNvPr id="3" name="Content Placeholder 2"/>
          <p:cNvSpPr>
            <a:spLocks noGrp="1"/>
          </p:cNvSpPr>
          <p:nvPr>
            <p:ph idx="1"/>
          </p:nvPr>
        </p:nvSpPr>
        <p:spPr/>
        <p:txBody>
          <a:bodyPr/>
          <a:lstStyle/>
          <a:p/>
          <a:p>
            <a:pPr>
              <a:defRPr sz="1200"/>
            </a:pPr>
            <a:r>
              <a:t>En general, aportar en la mejora y estandarización de plataformas ya implementadas.</a:t>
            </a:r>
          </a:p>
          <a:p>
            <a:pPr>
              <a:defRPr sz="1200"/>
            </a:pPr>
            <a:r>
              <a:t>Apoyar en la estandarización de proyectos y aprender sobre patrones de desarrollo utilizados en la empresa.</a:t>
            </a:r>
          </a:p>
          <a:p>
            <a:pPr>
              <a:defRPr sz="1200"/>
            </a:pPr>
            <a:r>
              <a:t>Contribuir al mantenimiento y mejora de la arquitectura de software bajo la guía de desarrolladores más experimentados.</a:t>
            </a:r>
          </a:p>
          <a:p>
            <a:pPr>
              <a:defRPr sz="1200"/>
            </a:pPr>
            <a:r>
              <a:t>Implementar pequeñas funcionalidades o ajustes siguiendo los contratos técnicos definidos.</a:t>
            </a:r>
          </a:p>
          <a:p>
            <a:pPr>
              <a:defRPr sz="1200"/>
            </a:pPr>
            <a:r>
              <a:t>Colaborar con otros desarrolladores y participar en la definición de requerimientos técnicos básicos.</a:t>
            </a:r>
          </a:p>
          <a:p>
            <a:pPr>
              <a:defRPr sz="1200"/>
            </a:pPr>
            <a:r>
              <a:t>Proponer ideas o mejoras técnicas en tareas que conozcas.</a:t>
            </a:r>
          </a:p>
          <a:p>
            <a:pPr>
              <a:defRPr sz="1200"/>
            </a:pPr>
            <a:r>
              <a:t>Participar activamente en revisiones de código y aprender buenas prácticas.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2 - 5</a:t>
            </a:r>
          </a:p>
        </p:txBody>
      </p:sp>
      <p:sp>
        <p:nvSpPr>
          <p:cNvPr id="3" name="Content Placeholder 2"/>
          <p:cNvSpPr>
            <a:spLocks noGrp="1"/>
          </p:cNvSpPr>
          <p:nvPr>
            <p:ph idx="1"/>
          </p:nvPr>
        </p:nvSpPr>
        <p:spPr/>
        <p:txBody>
          <a:bodyPr/>
          <a:lstStyle/>
          <a:p/>
          <a:p>
            <a:pPr>
              <a:defRPr sz="1200"/>
            </a:pPr>
            <a:r>
              <a:t>Herramientas y conocimientos técnicos requeridos.</a:t>
            </a:r>
          </a:p>
          <a:p>
            <a:pPr>
              <a:defRPr sz="1200"/>
            </a:pPr>
            <a:r>
              <a:t>Javascript, Node.js, APIs REST, manejo de bases de datos relacionales, patrones de diseño (MVC, modularidad). Control de versiones con git-github.</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2 - 6</a:t>
            </a:r>
          </a:p>
        </p:txBody>
      </p:sp>
      <p:sp>
        <p:nvSpPr>
          <p:cNvPr id="3" name="Content Placeholder 2"/>
          <p:cNvSpPr>
            <a:spLocks noGrp="1"/>
          </p:cNvSpPr>
          <p:nvPr>
            <p:ph idx="1"/>
          </p:nvPr>
        </p:nvSpPr>
        <p:spPr/>
        <p:txBody>
          <a:bodyPr/>
          <a:lstStyle/>
          <a:p/>
          <a:p>
            <a:pPr>
              <a:defRPr sz="1200"/>
            </a:pPr>
            <a:r>
              <a:t>Habilidades blandas deseadas.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2 - 7</a:t>
            </a:r>
          </a:p>
        </p:txBody>
      </p:sp>
      <p:sp>
        <p:nvSpPr>
          <p:cNvPr id="3" name="Content Placeholder 2"/>
          <p:cNvSpPr>
            <a:spLocks noGrp="1"/>
          </p:cNvSpPr>
          <p:nvPr>
            <p:ph idx="1"/>
          </p:nvPr>
        </p:nvSpPr>
        <p:spPr/>
        <p:txBody>
          <a:bodyPr/>
          <a:lstStyle/>
          <a:p/>
          <a:p>
            <a:pPr>
              <a:defRPr sz="1200"/>
            </a:pPr>
            <a:r>
              <a:t>Proactividad y ganas de aprender, adaptabilidad, buena comunicación y predisposición a trabajar en equipo, motivación para dar y recibir feedback.</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2 - 8</a:t>
            </a:r>
          </a:p>
        </p:txBody>
      </p:sp>
      <p:sp>
        <p:nvSpPr>
          <p:cNvPr id="3" name="Content Placeholder 2"/>
          <p:cNvSpPr>
            <a:spLocks noGrp="1"/>
          </p:cNvSpPr>
          <p:nvPr>
            <p:ph idx="1"/>
          </p:nvPr>
        </p:nvSpPr>
        <p:spPr/>
        <p:txBody>
          <a:bodyPr/>
          <a:lstStyle/>
          <a:p/>
          <a:p>
            <a:pPr>
              <a:defRPr sz="1200"/>
            </a:pPr>
            <a:r>
              <a:t>Tendencias de contratación y salario.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2 - 9</a:t>
            </a:r>
          </a:p>
        </p:txBody>
      </p:sp>
      <p:sp>
        <p:nvSpPr>
          <p:cNvPr id="3" name="Content Placeholder 2"/>
          <p:cNvSpPr>
            <a:spLocks noGrp="1"/>
          </p:cNvSpPr>
          <p:nvPr>
            <p:ph idx="1"/>
          </p:nvPr>
        </p:nvSpPr>
        <p:spPr/>
        <p:txBody>
          <a:bodyPr/>
          <a:lstStyle/>
          <a:p/>
          <a:p>
            <a:pPr>
              <a:defRPr sz="1200"/>
            </a:pPr>
            <a:r>
              <a:t>sueldo bruto: 1500 a 2500 usd mensuales. Contrato fijo o indefinido.</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2 - 10</a:t>
            </a:r>
          </a:p>
        </p:txBody>
      </p:sp>
      <p:sp>
        <p:nvSpPr>
          <p:cNvPr id="3" name="Content Placeholder 2"/>
          <p:cNvSpPr>
            <a:spLocks noGrp="1"/>
          </p:cNvSpPr>
          <p:nvPr>
            <p:ph idx="1"/>
          </p:nvPr>
        </p:nvSpPr>
        <p:spPr/>
        <p:txBody>
          <a:bodyPr/>
          <a:lstStyle/>
          <a:p/>
          <a:p>
            <a:pPr>
              <a:defRPr sz="1200"/>
            </a:pPr>
            <a:r>
              <a:t>Plataformas comunes donde se ofertan estos roles.</a:t>
            </a:r>
          </a:p>
          <a:p>
            <a:pPr>
              <a:defRPr sz="1200"/>
            </a:pPr>
            <a:r>
              <a:t>getonbrd.cl, LinkedIn Jobs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2 - 11</a:t>
            </a:r>
          </a:p>
        </p:txBody>
      </p:sp>
      <p:sp>
        <p:nvSpPr>
          <p:cNvPr id="3" name="Content Placeholder 2"/>
          <p:cNvSpPr>
            <a:spLocks noGrp="1"/>
          </p:cNvSpPr>
          <p:nvPr>
            <p:ph idx="1"/>
          </p:nvPr>
        </p:nvSpPr>
        <p:spPr/>
        <p:txBody>
          <a:bodyPr/>
          <a:lstStyle/>
          <a:p/>
          <a:p>
            <a:pPr>
              <a:defRPr sz="1200"/>
            </a:pPr>
            <a:r>
              <a:t>Desarrollador web fullstack junior</a:t>
            </a:r>
          </a:p>
          <a:p>
            <a:pPr>
              <a:defRPr sz="1200"/>
            </a:pPr>
            <a:r>
              <a:t>Descripción del rol y responsabilidades.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2 - 12</a:t>
            </a:r>
          </a:p>
        </p:txBody>
      </p:sp>
      <p:sp>
        <p:nvSpPr>
          <p:cNvPr id="3" name="Content Placeholder 2"/>
          <p:cNvSpPr>
            <a:spLocks noGrp="1"/>
          </p:cNvSpPr>
          <p:nvPr>
            <p:ph idx="1"/>
          </p:nvPr>
        </p:nvSpPr>
        <p:spPr/>
        <p:txBody>
          <a:bodyPr/>
          <a:lstStyle/>
          <a:p/>
          <a:p>
            <a:pPr>
              <a:defRPr sz="1200"/>
            </a:pPr>
            <a:r>
              <a:t>Desarrollar, mantener y optimizar aplicaciones y sitios web, asegurando un código limpio, eficiente y compatible con los estándares modernos. Apoya al equipo de desarrollo en la implementación de soluciones digitales alineadas con los objetivos estratégicos de la organización.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2 - 13</a:t>
            </a:r>
          </a:p>
        </p:txBody>
      </p:sp>
      <p:sp>
        <p:nvSpPr>
          <p:cNvPr id="3" name="Content Placeholder 2"/>
          <p:cNvSpPr>
            <a:spLocks noGrp="1"/>
          </p:cNvSpPr>
          <p:nvPr>
            <p:ph idx="1"/>
          </p:nvPr>
        </p:nvSpPr>
        <p:spPr/>
        <p:txBody>
          <a:bodyPr/>
          <a:lstStyle/>
          <a:p/>
          <a:p>
            <a:pPr>
              <a:defRPr sz="1200"/>
            </a:pPr>
            <a:r>
              <a:t>-Implementar diseños responsivos y accesibles en plataformas.</a:t>
            </a:r>
          </a:p>
          <a:p>
            <a:pPr>
              <a:defRPr sz="1200"/>
            </a:pPr>
            <a:r>
              <a:t>-Participar en el desarrollo de aplicaciones front-end y back-end.</a:t>
            </a:r>
          </a:p>
          <a:p>
            <a:pPr>
              <a:defRPr sz="1200"/>
            </a:pPr>
            <a:r>
              <a:t>-Integrar APIs y servicios externos utilizando frameworks modernos.</a:t>
            </a:r>
          </a:p>
          <a:p>
            <a:pPr>
              <a:defRPr sz="1200"/>
            </a:pPr>
            <a:r>
              <a:t>-Colaborar en equipos con metodologías ágiles.</a:t>
            </a:r>
          </a:p>
          <a:p>
            <a:pPr>
              <a:defRPr sz="1200"/>
            </a:pPr>
            <a:r>
              <a:t>-Realizar depuración y mantenimiento de código.</a:t>
            </a:r>
          </a:p>
          <a:p>
            <a:pPr>
              <a:defRPr sz="1200"/>
            </a:pPr>
            <a:r>
              <a:t>-Documentar los procesos de desarrollo y versiones del producto.</a:t>
            </a:r>
          </a:p>
          <a:p>
            <a:pPr>
              <a:defRPr sz="1200"/>
            </a:pPr>
            <a:r>
              <a:t>-Asegurar la compatibilidad entre navegadores y dispositivos.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2 - 14</a:t>
            </a:r>
          </a:p>
        </p:txBody>
      </p:sp>
      <p:sp>
        <p:nvSpPr>
          <p:cNvPr id="3" name="Content Placeholder 2"/>
          <p:cNvSpPr>
            <a:spLocks noGrp="1"/>
          </p:cNvSpPr>
          <p:nvPr>
            <p:ph idx="1"/>
          </p:nvPr>
        </p:nvSpPr>
        <p:spPr/>
        <p:txBody>
          <a:bodyPr/>
          <a:lstStyle/>
          <a:p/>
          <a:p>
            <a:pPr>
              <a:defRPr sz="1200"/>
            </a:pPr>
            <a:r>
              <a:t>Herramientas y conocimientos técnicos requeridos.</a:t>
            </a:r>
          </a:p>
          <a:p>
            <a:pPr>
              <a:defRPr sz="1200"/>
            </a:pPr>
            <a:r>
              <a:t>Frontend: HTML-CSS-JS; frameworks como React, Angular, Vue.js; frameworks de CSS como Bootstrap o Tailwind.</a:t>
            </a:r>
          </a:p>
          <a:p>
            <a:pPr>
              <a:defRPr sz="1200"/>
            </a:pPr>
            <a:r>
              <a:t>Backend: Node.js, Java, PHP o Python (Django/Flask).</a:t>
            </a:r>
          </a:p>
          <a:p>
            <a:pPr>
              <a:defRPr sz="1200"/>
            </a:pPr>
            <a:r>
              <a:t>SQL para bases de datos relacionales.</a:t>
            </a:r>
          </a:p>
          <a:p>
            <a:pPr>
              <a:defRPr sz="1200"/>
            </a:pPr>
            <a:r>
              <a:t>Herramientas de despliegue: docker, cloud services.</a:t>
            </a:r>
          </a:p>
          <a:p>
            <a:pPr>
              <a:defRPr sz="1200"/>
            </a:pPr>
            <a:r>
              <a:t>Control de versiones con git-github.</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2 - 15</a:t>
            </a:r>
          </a:p>
        </p:txBody>
      </p:sp>
      <p:sp>
        <p:nvSpPr>
          <p:cNvPr id="3" name="Content Placeholder 2"/>
          <p:cNvSpPr>
            <a:spLocks noGrp="1"/>
          </p:cNvSpPr>
          <p:nvPr>
            <p:ph idx="1"/>
          </p:nvPr>
        </p:nvSpPr>
        <p:spPr/>
        <p:txBody>
          <a:bodyPr/>
          <a:lstStyle/>
          <a:p/>
          <a:p>
            <a:pPr>
              <a:defRPr sz="1200"/>
            </a:pPr>
            <a:r>
              <a:t>Habilidades blandas deseadas.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2 - 16</a:t>
            </a:r>
          </a:p>
        </p:txBody>
      </p:sp>
      <p:sp>
        <p:nvSpPr>
          <p:cNvPr id="3" name="Content Placeholder 2"/>
          <p:cNvSpPr>
            <a:spLocks noGrp="1"/>
          </p:cNvSpPr>
          <p:nvPr>
            <p:ph idx="1"/>
          </p:nvPr>
        </p:nvSpPr>
        <p:spPr/>
        <p:txBody>
          <a:bodyPr/>
          <a:lstStyle/>
          <a:p/>
          <a:p>
            <a:pPr>
              <a:defRPr sz="1200"/>
            </a:pPr>
            <a:r>
              <a:t>Se valora capacidad de aprendizaje, colaboración, proactividad y habilidades de comunicación.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2 - 17</a:t>
            </a:r>
          </a:p>
        </p:txBody>
      </p:sp>
      <p:sp>
        <p:nvSpPr>
          <p:cNvPr id="3" name="Content Placeholder 2"/>
          <p:cNvSpPr>
            <a:spLocks noGrp="1"/>
          </p:cNvSpPr>
          <p:nvPr>
            <p:ph idx="1"/>
          </p:nvPr>
        </p:nvSpPr>
        <p:spPr/>
        <p:txBody>
          <a:bodyPr/>
          <a:lstStyle/>
          <a:p/>
          <a:p>
            <a:pPr>
              <a:defRPr sz="1200"/>
            </a:pPr>
            <a:r>
              <a:t>Tendencias de contratación y salario.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2 - 18</a:t>
            </a:r>
          </a:p>
        </p:txBody>
      </p:sp>
      <p:sp>
        <p:nvSpPr>
          <p:cNvPr id="3" name="Content Placeholder 2"/>
          <p:cNvSpPr>
            <a:spLocks noGrp="1"/>
          </p:cNvSpPr>
          <p:nvPr>
            <p:ph idx="1"/>
          </p:nvPr>
        </p:nvSpPr>
        <p:spPr/>
        <p:txBody>
          <a:bodyPr/>
          <a:lstStyle/>
          <a:p/>
          <a:p>
            <a:pPr>
              <a:defRPr sz="1200"/>
            </a:pPr>
            <a:r>
              <a:t>sueldo líquido: $1.500.000-$2.000.000 mensuales. Contrato fijo o indefinido.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2 - 19</a:t>
            </a:r>
          </a:p>
        </p:txBody>
      </p:sp>
      <p:sp>
        <p:nvSpPr>
          <p:cNvPr id="3" name="Content Placeholder 2"/>
          <p:cNvSpPr>
            <a:spLocks noGrp="1"/>
          </p:cNvSpPr>
          <p:nvPr>
            <p:ph idx="1"/>
          </p:nvPr>
        </p:nvSpPr>
        <p:spPr/>
        <p:txBody>
          <a:bodyPr/>
          <a:lstStyle/>
          <a:p/>
          <a:p>
            <a:pPr>
              <a:defRPr sz="1200"/>
            </a:pPr>
            <a:r>
              <a:t>Plataformas comunes donde se ofertan estos roles.</a:t>
            </a:r>
          </a:p>
          <a:p>
            <a:pPr>
              <a:defRPr sz="1200"/>
            </a:pPr>
            <a:r>
              <a:t>trabajando.cl, LinkedIn Jobs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3 - 1</a:t>
            </a:r>
          </a:p>
        </p:txBody>
      </p:sp>
      <p:sp>
        <p:nvSpPr>
          <p:cNvPr id="3" name="Content Placeholder 2"/>
          <p:cNvSpPr>
            <a:spLocks noGrp="1"/>
          </p:cNvSpPr>
          <p:nvPr>
            <p:ph idx="1"/>
          </p:nvPr>
        </p:nvSpPr>
        <p:spPr/>
        <p:txBody>
          <a:bodyPr/>
          <a:lstStyle/>
          <a:p/>
          <a:p>
            <a:pPr>
              <a:defRPr sz="1200"/>
            </a:pPr>
            <a:r>
              <a:t>Estrategia de búsqueda laboral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3 - 2</a:t>
            </a:r>
          </a:p>
        </p:txBody>
      </p:sp>
      <p:sp>
        <p:nvSpPr>
          <p:cNvPr id="3" name="Content Placeholder 2"/>
          <p:cNvSpPr>
            <a:spLocks noGrp="1"/>
          </p:cNvSpPr>
          <p:nvPr>
            <p:ph idx="1"/>
          </p:nvPr>
        </p:nvSpPr>
        <p:spPr/>
        <p:txBody>
          <a:bodyPr/>
          <a:lstStyle/>
          <a:p/>
          <a:p>
            <a:pPr>
              <a:defRPr sz="1200"/>
            </a:pPr>
            <a:r>
              <a:t>Nichos y empresas objetivo (por tamaño, rubro o cultura laboral).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3 - 3</a:t>
            </a:r>
          </a:p>
        </p:txBody>
      </p:sp>
      <p:sp>
        <p:nvSpPr>
          <p:cNvPr id="3" name="Content Placeholder 2"/>
          <p:cNvSpPr>
            <a:spLocks noGrp="1"/>
          </p:cNvSpPr>
          <p:nvPr>
            <p:ph idx="1"/>
          </p:nvPr>
        </p:nvSpPr>
        <p:spPr/>
        <p:txBody>
          <a:bodyPr/>
          <a:lstStyle/>
          <a:p/>
          <a:p>
            <a:pPr>
              <a:defRPr sz="1200"/>
            </a:pPr>
            <a:r>
              <a:t>Apuntaré a empresas del rubro tech/TI por tres motivos principales. El primero es que utilizan metodologías de trabajo ágiles, una forma novedosa de organización que me interesa conocer. Segundo, es que están mucho más abiertas que otro tipo de empresas a aceptar a candidatos que salieron de bootcamps u otras instituciones educativas no tradicionales. Tercero, que están mucho más abiertos a ofrecer trabajo remoto, que es a lo que apunto, ya que no quiero moverme del lugar que habito y no es un lugar que concentre industria tecnológica.</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3 - 4</a:t>
            </a:r>
          </a:p>
        </p:txBody>
      </p:sp>
      <p:sp>
        <p:nvSpPr>
          <p:cNvPr id="3" name="Content Placeholder 2"/>
          <p:cNvSpPr>
            <a:spLocks noGrp="1"/>
          </p:cNvSpPr>
          <p:nvPr>
            <p:ph idx="1"/>
          </p:nvPr>
        </p:nvSpPr>
        <p:spPr/>
        <p:txBody>
          <a:bodyPr/>
          <a:lstStyle/>
          <a:p/>
          <a:p>
            <a:pPr>
              <a:defRPr sz="1200"/>
            </a:pPr>
            <a:r>
              <a:t>Plataformas que usará.</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3 - 5</a:t>
            </a:r>
          </a:p>
        </p:txBody>
      </p:sp>
      <p:sp>
        <p:nvSpPr>
          <p:cNvPr id="3" name="Content Placeholder 2"/>
          <p:cNvSpPr>
            <a:spLocks noGrp="1"/>
          </p:cNvSpPr>
          <p:nvPr>
            <p:ph idx="1"/>
          </p:nvPr>
        </p:nvSpPr>
        <p:spPr/>
        <p:txBody>
          <a:bodyPr/>
          <a:lstStyle/>
          <a:p/>
          <a:p>
            <a:pPr>
              <a:defRPr sz="1200"/>
            </a:pPr>
            <a:r>
              <a:t>Por el nicho que estoy apuntando, empresas tech, usaré plataformas menos genéricas y más especializadas, como LinkedIn Jobs y GetOnBoard, además puedo aprovechar mi buen nivel de inglés para ampliar mi búsqueda fuera de Chile.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3 - 6</a:t>
            </a:r>
          </a:p>
        </p:txBody>
      </p:sp>
      <p:sp>
        <p:nvSpPr>
          <p:cNvPr id="3" name="Content Placeholder 2"/>
          <p:cNvSpPr>
            <a:spLocks noGrp="1"/>
          </p:cNvSpPr>
          <p:nvPr>
            <p:ph idx="1"/>
          </p:nvPr>
        </p:nvSpPr>
        <p:spPr/>
        <p:txBody>
          <a:bodyPr/>
          <a:lstStyle/>
          <a:p/>
          <a:p>
            <a:pPr>
              <a:defRPr sz="1200"/>
            </a:pPr>
            <a:r>
              <a:t>Estrategias para hacer networking.</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3 - 7</a:t>
            </a:r>
          </a:p>
        </p:txBody>
      </p:sp>
      <p:sp>
        <p:nvSpPr>
          <p:cNvPr id="3" name="Content Placeholder 2"/>
          <p:cNvSpPr>
            <a:spLocks noGrp="1"/>
          </p:cNvSpPr>
          <p:nvPr>
            <p:ph idx="1"/>
          </p:nvPr>
        </p:nvSpPr>
        <p:spPr/>
        <p:txBody>
          <a:bodyPr/>
          <a:lstStyle/>
          <a:p/>
          <a:p>
            <a:pPr>
              <a:defRPr sz="1200"/>
            </a:pPr>
            <a:r>
              <a:t>Ya conecté con la mayoría de mis compañeros de bootcamp en LinkedIn y empezaré a seguir comunidades de desarrolladores en Chile.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3 - 8</a:t>
            </a:r>
          </a:p>
        </p:txBody>
      </p:sp>
      <p:sp>
        <p:nvSpPr>
          <p:cNvPr id="3" name="Content Placeholder 2"/>
          <p:cNvSpPr>
            <a:spLocks noGrp="1"/>
          </p:cNvSpPr>
          <p:nvPr>
            <p:ph idx="1"/>
          </p:nvPr>
        </p:nvSpPr>
        <p:spPr/>
        <p:txBody>
          <a:bodyPr/>
          <a:lstStyle/>
          <a:p/>
          <a:p>
            <a:pPr>
              <a:defRPr sz="1200"/>
            </a:pPr>
            <a:r>
              <a:t>Plan semanal de acciones concretas.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3 - 9</a:t>
            </a:r>
          </a:p>
        </p:txBody>
      </p:sp>
      <p:sp>
        <p:nvSpPr>
          <p:cNvPr id="3" name="Content Placeholder 2"/>
          <p:cNvSpPr>
            <a:spLocks noGrp="1"/>
          </p:cNvSpPr>
          <p:nvPr>
            <p:ph idx="1"/>
          </p:nvPr>
        </p:nvSpPr>
        <p:spPr/>
        <p:txBody>
          <a:bodyPr/>
          <a:lstStyle/>
          <a:p/>
          <a:p>
            <a:pPr>
              <a:defRPr sz="1200"/>
            </a:pPr>
            <a:r>
              <a:t>Buscaré 1 o 2 ofertas semanales que se adapten a mis empresas objetivo y a mi stack tecnológico.</a:t>
            </a:r>
          </a:p>
          <a:p>
            <a:pPr>
              <a:defRPr sz="1200"/>
            </a:pPr>
            <a:r>
              <a:t>Analizaré con ayuda de la IA las palabras clave y habilidades deseables en el anuncio.</a:t>
            </a:r>
          </a:p>
          <a:p>
            <a:pPr>
              <a:defRPr sz="1200"/>
            </a:pPr>
            <a:r>
              <a:t>Practicaré preguntas técnicas y storytelling.</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3 - 10</a:t>
            </a:r>
          </a:p>
        </p:txBody>
      </p:sp>
      <p:sp>
        <p:nvSpPr>
          <p:cNvPr id="3" name="Content Placeholder 2"/>
          <p:cNvSpPr>
            <a:spLocks noGrp="1"/>
          </p:cNvSpPr>
          <p:nvPr>
            <p:ph idx="1"/>
          </p:nvPr>
        </p:nvSpPr>
        <p:spPr/>
        <p:txBody>
          <a:bodyPr/>
          <a:lstStyle/>
          <a:p/>
          <a:p>
            <a:pPr>
              <a:defRPr sz="1200"/>
            </a:pPr>
            <a:r>
              <a:t>Indicadores de seguimiento.</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3 - 11</a:t>
            </a:r>
          </a:p>
        </p:txBody>
      </p:sp>
      <p:sp>
        <p:nvSpPr>
          <p:cNvPr id="3" name="Content Placeholder 2"/>
          <p:cNvSpPr>
            <a:spLocks noGrp="1"/>
          </p:cNvSpPr>
          <p:nvPr>
            <p:ph idx="1"/>
          </p:nvPr>
        </p:nvSpPr>
        <p:spPr/>
        <p:txBody>
          <a:bodyPr/>
          <a:lstStyle/>
          <a:p/>
          <a:p>
            <a:pPr>
              <a:defRPr sz="1200"/>
            </a:pPr>
            <a:r>
              <a:t>Registraré postulaciones, respuestas negativas y positivas y etapas alcanzadas.</a:t>
            </a:r>
          </a:p>
          <a:p>
            <a:pPr>
              <a:defRPr sz="1200"/>
            </a:pP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4 - 1</a:t>
            </a:r>
          </a:p>
        </p:txBody>
      </p:sp>
      <p:sp>
        <p:nvSpPr>
          <p:cNvPr id="3" name="Content Placeholder 2"/>
          <p:cNvSpPr>
            <a:spLocks noGrp="1"/>
          </p:cNvSpPr>
          <p:nvPr>
            <p:ph idx="1"/>
          </p:nvPr>
        </p:nvSpPr>
        <p:spPr/>
        <p:txBody>
          <a:bodyPr/>
          <a:lstStyle/>
          <a:p/>
          <a:p>
            <a:pPr>
              <a:defRPr sz="1200"/>
            </a:pPr>
            <a:r>
              <a:t>Material de postulación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4 - 2</a:t>
            </a:r>
          </a:p>
        </p:txBody>
      </p:sp>
      <p:sp>
        <p:nvSpPr>
          <p:cNvPr id="3" name="Content Placeholder 2"/>
          <p:cNvSpPr>
            <a:spLocks noGrp="1"/>
          </p:cNvSpPr>
          <p:nvPr>
            <p:ph idx="1"/>
          </p:nvPr>
        </p:nvSpPr>
        <p:spPr/>
        <p:txBody>
          <a:bodyPr/>
          <a:lstStyle/>
          <a:p/>
          <a:p>
            <a:pPr>
              <a:defRPr sz="1200"/>
            </a:pPr>
            <a:r>
              <a:t>Pitch profesional:</a:t>
            </a:r>
          </a:p>
          <a:p>
            <a:pPr>
              <a:defRPr sz="1200"/>
            </a:pPr>
            <a:r>
              <a:t>Soy Luciano Oviedo, desarrollador web full stack egresado del programa Talento Digital para Chile. Me especializo en JavaScript para frontend and Node.js para backend...(truncated)</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4 - 3</a:t>
            </a:r>
          </a:p>
        </p:txBody>
      </p:sp>
      <p:sp>
        <p:nvSpPr>
          <p:cNvPr id="3" name="Content Placeholder 2"/>
          <p:cNvSpPr>
            <a:spLocks noGrp="1"/>
          </p:cNvSpPr>
          <p:nvPr>
            <p:ph idx="1"/>
          </p:nvPr>
        </p:nvSpPr>
        <p:spPr/>
        <p:txBody>
          <a:bodyPr/>
          <a:lstStyle/>
          <a:p/>
          <a:p>
            <a:pPr>
              <a:defRPr sz="1200"/>
            </a:pPr>
            <a:r>
              <a:t>Carta de presentación:</a:t>
            </a:r>
          </a:p>
          <a:p>
            <a:pPr>
              <a:defRPr sz="1200"/>
            </a:pPr>
            <a:r>
              <a:t>(El texto completo será incluido.)</a:t>
            </a:r>
          </a:p>
          <a:p>
            <a:pPr>
              <a:defRPr sz="1200"/>
            </a:pP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5 - 1</a:t>
            </a:r>
          </a:p>
        </p:txBody>
      </p:sp>
      <p:sp>
        <p:nvSpPr>
          <p:cNvPr id="3" name="Content Placeholder 2"/>
          <p:cNvSpPr>
            <a:spLocks noGrp="1"/>
          </p:cNvSpPr>
          <p:nvPr>
            <p:ph idx="1"/>
          </p:nvPr>
        </p:nvSpPr>
        <p:spPr/>
        <p:txBody>
          <a:bodyPr/>
          <a:lstStyle/>
          <a:p/>
          <a:p>
            <a:pPr>
              <a:defRPr sz="1200"/>
            </a:pPr>
            <a:r>
              <a:t>Preparación para entrevistas</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5 - 2</a:t>
            </a:r>
          </a:p>
        </p:txBody>
      </p:sp>
      <p:sp>
        <p:nvSpPr>
          <p:cNvPr id="3" name="Content Placeholder 2"/>
          <p:cNvSpPr>
            <a:spLocks noGrp="1"/>
          </p:cNvSpPr>
          <p:nvPr>
            <p:ph idx="1"/>
          </p:nvPr>
        </p:nvSpPr>
        <p:spPr/>
        <p:txBody>
          <a:bodyPr/>
          <a:lstStyle/>
          <a:p/>
          <a:p>
            <a:pPr>
              <a:defRPr sz="1200"/>
            </a:pPr>
            <a:r>
              <a:t>Preguntas típicas y respuestas:</a:t>
            </a:r>
          </a:p>
          <a:p>
            <a:pPr>
              <a:defRPr sz="1200"/>
            </a:pPr>
            <a:r>
              <a:t>A. Cuéntame sobre ti.</a:t>
            </a:r>
          </a:p>
          <a:p>
            <a:pPr>
              <a:defRPr sz="1200"/>
            </a:pPr>
            <a:r>
              <a:t>Mi nombre es Luciano Oviedo, tengo 31 años...</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5 - 3</a:t>
            </a:r>
          </a:p>
        </p:txBody>
      </p:sp>
      <p:sp>
        <p:nvSpPr>
          <p:cNvPr id="3" name="Content Placeholder 2"/>
          <p:cNvSpPr>
            <a:spLocks noGrp="1"/>
          </p:cNvSpPr>
          <p:nvPr>
            <p:ph idx="1"/>
          </p:nvPr>
        </p:nvSpPr>
        <p:spPr/>
        <p:txBody>
          <a:bodyPr/>
          <a:lstStyle/>
          <a:p/>
          <a:p>
            <a:pPr>
              <a:defRPr sz="1200"/>
            </a:pPr>
            <a:r>
              <a:t>B. ¿Cuál ha sido el mayor desafío técnico?</a:t>
            </a:r>
          </a:p>
          <a:p>
            <a:pPr>
              <a:defRPr sz="1200"/>
            </a:pPr>
            <a:r>
              <a:t>Durante mi bootcamp...</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5 - 4</a:t>
            </a:r>
          </a:p>
        </p:txBody>
      </p:sp>
      <p:sp>
        <p:nvSpPr>
          <p:cNvPr id="3" name="Content Placeholder 2"/>
          <p:cNvSpPr>
            <a:spLocks noGrp="1"/>
          </p:cNvSpPr>
          <p:nvPr>
            <p:ph idx="1"/>
          </p:nvPr>
        </p:nvSpPr>
        <p:spPr/>
        <p:txBody>
          <a:bodyPr/>
          <a:lstStyle/>
          <a:p/>
          <a:p>
            <a:pPr>
              <a:defRPr sz="1200"/>
            </a:pPr>
            <a:r>
              <a:t>C. ¿Cómo manejas la presión?</a:t>
            </a:r>
          </a:p>
          <a:p>
            <a:pPr>
              <a:defRPr sz="1200"/>
            </a:pPr>
            <a:r>
              <a:t>Me enfoco en...</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5 - 5</a:t>
            </a:r>
          </a:p>
        </p:txBody>
      </p:sp>
      <p:sp>
        <p:nvSpPr>
          <p:cNvPr id="3" name="Content Placeholder 2"/>
          <p:cNvSpPr>
            <a:spLocks noGrp="1"/>
          </p:cNvSpPr>
          <p:nvPr>
            <p:ph idx="1"/>
          </p:nvPr>
        </p:nvSpPr>
        <p:spPr/>
        <p:txBody>
          <a:bodyPr/>
          <a:lstStyle/>
          <a:p/>
          <a:p>
            <a:pPr>
              <a:defRPr sz="1200"/>
            </a:pPr>
            <a:r>
              <a:t>D. ¿Por qué te gustaría trabajar aquí?</a:t>
            </a:r>
          </a:p>
          <a:p>
            <a:pPr>
              <a:defRPr sz="1200"/>
            </a:pPr>
            <a:r>
              <a:t>Estoy en un proceso...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5 - 6</a:t>
            </a:r>
          </a:p>
        </p:txBody>
      </p:sp>
      <p:sp>
        <p:nvSpPr>
          <p:cNvPr id="3" name="Content Placeholder 2"/>
          <p:cNvSpPr>
            <a:spLocks noGrp="1"/>
          </p:cNvSpPr>
          <p:nvPr>
            <p:ph idx="1"/>
          </p:nvPr>
        </p:nvSpPr>
        <p:spPr/>
        <p:txBody>
          <a:bodyPr/>
          <a:lstStyle/>
          <a:p/>
          <a:p>
            <a:pPr>
              <a:defRPr sz="1200"/>
            </a:pPr>
            <a:r>
              <a:t>E. ¿Tienes experiencia en equipos ágiles?</a:t>
            </a:r>
          </a:p>
          <a:p>
            <a:pPr>
              <a:defRPr sz="1200"/>
            </a:pPr>
            <a:r>
              <a:t>No, pero me interesa...</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Parte 5 - 7</a:t>
            </a:r>
          </a:p>
        </p:txBody>
      </p:sp>
      <p:sp>
        <p:nvSpPr>
          <p:cNvPr id="3" name="Content Placeholder 2"/>
          <p:cNvSpPr>
            <a:spLocks noGrp="1"/>
          </p:cNvSpPr>
          <p:nvPr>
            <p:ph idx="1"/>
          </p:nvPr>
        </p:nvSpPr>
        <p:spPr/>
        <p:txBody>
          <a:bodyPr/>
          <a:lstStyle/>
          <a:p/>
          <a:p>
            <a:pPr>
              <a:defRPr sz="1200"/>
            </a:pPr>
            <a:r>
              <a:t>Reflexión final sobre entrevistas:</a:t>
            </a:r>
          </a:p>
          <a:p>
            <a:pPr>
              <a:defRPr sz="1200"/>
            </a:pPr>
            <a:r>
              <a:t>En general no tengo grandes dificultades...</a:t>
            </a:r>
          </a:p>
          <a:p>
            <a:pPr>
              <a:defRPr sz="1200"/>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